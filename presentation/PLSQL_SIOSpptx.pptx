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744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8" r:id="rId6"/>
    <p:sldId id="275" r:id="rId7"/>
    <p:sldId id="278" r:id="rId8"/>
    <p:sldId id="260" r:id="rId9"/>
    <p:sldId id="276" r:id="rId10"/>
    <p:sldId id="277" r:id="rId11"/>
    <p:sldId id="264" r:id="rId12"/>
    <p:sldId id="279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 snapToObjects="1">
      <p:cViewPr>
        <p:scale>
          <a:sx n="63" d="100"/>
          <a:sy n="63" d="100"/>
        </p:scale>
        <p:origin x="76" y="2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D81A9-CFC2-4640-899E-DD3E177BE50A}" type="datetimeFigureOut">
              <a:rPr lang="en-US" smtClean="0"/>
              <a:t>12/06/2025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605DA-80A8-4B7B-B889-6C5700BB4C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E50F4-C55A-473A-A70B-4B042EF011A9}" type="datetimeFigureOut">
              <a:rPr lang="en-US" smtClean="0"/>
              <a:t>12/06/2025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44625-0ADF-4414-89A2-9E135F0C84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654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031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10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12/06/2025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12/06/2025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12/06/2025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12/06/2025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12/06/2025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12/06/2025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12/06/2025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12/06/2025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12/06/2025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ight sky with mountains far away on the horizon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9638" y="108995"/>
            <a:ext cx="7433513" cy="160335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Database development with </a:t>
            </a:r>
            <a:r>
              <a:rPr lang="en-US" sz="36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pl</a:t>
            </a:r>
            <a:r>
              <a:rPr 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/</a:t>
            </a:r>
            <a:r>
              <a:rPr lang="en-US" sz="36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sql</a:t>
            </a:r>
            <a:r>
              <a:rPr 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final project</a:t>
            </a:r>
            <a:endParaRPr lang="en-US" sz="36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976282"/>
            <a:ext cx="7197726" cy="140546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BY: RUREBWAYIRE AMPOZE ARIELLA </a:t>
            </a:r>
          </a:p>
          <a:p>
            <a:r>
              <a:rPr lang="en-US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(27640)</a:t>
            </a:r>
          </a:p>
          <a:p>
            <a:r>
              <a:rPr lang="en-US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GITHUB LINK: https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://github.com/4ri3ll4/PLSQL_FINAL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 txBox="1">
            <a:spLocks/>
          </p:cNvSpPr>
          <p:nvPr/>
        </p:nvSpPr>
        <p:spPr>
          <a:xfrm>
            <a:off x="3252159" y="3185750"/>
            <a:ext cx="8379544" cy="160335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PROJECT: SMART INVENTORY OPTIMISATION SYSTEM</a:t>
            </a:r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9F444-FCBD-B140-9C05-E443FA080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6143423" cy="1456267"/>
          </a:xfrm>
        </p:spPr>
        <p:txBody>
          <a:bodyPr>
            <a:normAutofit/>
          </a:bodyPr>
          <a:lstStyle/>
          <a:p>
            <a:r>
              <a:rPr lang="en-US" sz="4800" b="1" u="sng" dirty="0"/>
              <a:t>Problem Statement</a:t>
            </a:r>
            <a:endParaRPr lang="ru-RU" sz="4800" b="1" u="sng" dirty="0"/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CFEF753B-CA1B-4178-80F5-095B7FEA21C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1267604">
            <a:off x="8565602" y="3905595"/>
            <a:ext cx="3639934" cy="3163289"/>
            <a:chOff x="5281603" y="104899"/>
            <a:chExt cx="6910397" cy="6005491"/>
          </a:xfrm>
        </p:grpSpPr>
        <p:sp>
          <p:nvSpPr>
            <p:cNvPr id="180" name="Freeform 98">
              <a:extLst>
                <a:ext uri="{FF2B5EF4-FFF2-40B4-BE49-F238E27FC236}">
                  <a16:creationId xmlns:a16="http://schemas.microsoft.com/office/drawing/2014/main" id="{86C68ECC-F0A0-411E-A303-6DC0707A366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6A21E140-4ECB-4C42-BDC7-F4351513DA9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2940CFC5-AC4C-4746-A3B9-3DD434FF6DE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6EC95677-9C92-4D0D-91D4-E07380F2502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097602B2-71E1-4395-9C47-DE48B712AE8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7FC50570-F1A9-4DB3-A64D-3A21A588820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88E4F209-3FDA-4C17-A86D-59990132FF4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9950C402-F8DC-4C99-90A8-CD67BDEC6CB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76483FEF-FBDD-456C-AD52-B6D166FB1C0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DA316CA5-D470-4E6D-A6E8-D35DB7725D2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8BFA4937-71AA-4400-8DCD-20E5DF05017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768FA0D4-7119-47B3-8329-0978770774F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62C433AC-8114-47CC-9467-FCB5FE9807B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BF9CB489-BA36-4004-A019-75FBA23CCB9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B4C060E4-E790-4A31-B683-EA834FCF4E2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13F00D2A-400F-4678-BB33-16B61650F47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46AABFD4-3727-4DF4-933A-C0A090248A8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6CC40A87-D067-41BF-B368-A197EC0D9DF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E116F92B-7098-4139-AC77-75B4CE3323F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CFDF485C-38E7-4C0D-A2A7-3F1DE3B918A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BF6DBD12-21A0-4F07-953F-D3B3486C151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554F4E42-5B16-41F4-8FF4-2EB134C1FE1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6F4CC20F-EBF6-4AFE-9A4F-68ACC7513B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FA745DE2-9816-4D5B-BB41-BE1874612FF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D5B5D721-5554-457C-BE2F-BCA2505CADF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BAFF390C-48FB-4FA5-998E-6DDDF9D2B41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F4B2E647-1CF4-4AF8-9AF5-8EAB6D6E888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46DA8C50-AA32-47D8-8DCB-DE9624E60EF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51ED6412-8EBC-4680-B7D2-65A4F73BBBD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2983F033-A214-4959-956E-4B50B7AC660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A77F30C3-5A8C-4BEB-95C1-A7B9C0961F3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99A432F5-9A86-437C-8108-7945FA72EC4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4F8B1465-BA18-4D1C-ADED-D4BAA7638AA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45DD7842-E27E-4461-B9C8-63AD2F0C44F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3C45934F-49A5-4EDB-A9A3-5540D74AB1A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EEF9B0E3-0DC0-4D03-A02B-8F62D905F4F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2B1998C4-BF81-4332-A399-AD43467F677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44CFAF52-7684-46F2-8DFD-70A7F36DB0E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93EFB5D1-BDF7-40B6-BBEA-D489CE79F15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B5A98777-A259-461F-A9B2-21DFC45C179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0F795195-D966-482A-8D47-6265C00F6D0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6E881E12-FFE1-441E-B36B-804289472BA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61DBEB97-C3B3-4646-9760-227E20B1555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0BA17FBA-A611-4CA2-9CDC-E073B889C4C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1B66F6D2-50DA-4E7A-8583-E9159CD9622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DD181CC7-8652-404A-B5C7-58004FD15F3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75706D69-47CD-47E3-83C9-EDB4EAF58C8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2ADC21AA-CD21-436C-A9D7-DC4167E5008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4702CCCC-772F-4AF1-8201-73C25371105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62AAD2B7-288B-42CF-804B-E33B84D747A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D51CCD7B-95EB-4EE4-BAED-4308C80BF36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F92C4B5C-D0FB-4C0A-B5FA-2C7DDF7625C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64D2931E-A280-496D-99C1-5C2A820CB4D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ED33CBE3-55B1-43CF-96B9-2E994EBCEA3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16C6D563-A48C-4E6B-AE46-2CCE38A6601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AD0ABECB-C92E-4F76-89A6-1334939CDF8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8C258514-FFA8-4DE3-9B25-D55705AC3BD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C2B9E312-EEBF-4783-B25E-D7DD0D6E712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7CB21139-A4D5-4D0F-9AD0-868FFC4240F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E72FF9AC-BC86-42FD-8DF7-72429C958CA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23D09EAB-27F8-4FAC-91C2-4942ABA7408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10D82CB2-C309-4CCD-9FB1-EF8F4407ECC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3625D6FE-BC58-4E33-B4E9-282D5CB75E0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2158CF66-DCD3-4627-9675-61B42A30371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44ED85B9-D0C1-4222-B4BC-E81876EC388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1299F075-06C0-46B8-A3F7-1D7E8D6001D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AEA87578-2C04-4651-A5BF-81D06050C9F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12A8551E-D8EB-40F2-AD25-87484A17D2F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AC1E0E32-3B75-404A-9165-57337825085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4A410333-16BA-443A-B24F-418ED775366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271589D1-7914-4EA7-B6B4-C1E7EA5FE67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E62A5ACA-F5D5-41F3-9549-06DB799C4D1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EA254CA6-3565-4CD0-8BEB-C94A533C011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E62203F9-E5BE-44F8-8D43-31EEF85E922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FC43FC58-4722-4D22-88C1-652EB165851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D4C87F1C-06F8-43CD-8920-F525A5504B5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F75BF2BA-0DFF-4812-986E-9F2286A9F46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7B79CBCB-DE00-4F16-A2FC-E54EF816BA3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DEA1374B-AC49-4266-965E-1F9CD9E53BC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325DE178-9F40-48D5-B0A9-4B032474225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29858C9E-401F-4216-8087-A25D1B5881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5392608">
            <a:off x="7397406" y="-618857"/>
            <a:ext cx="4915057" cy="4271437"/>
            <a:chOff x="5281603" y="104899"/>
            <a:chExt cx="6910397" cy="6005491"/>
          </a:xfrm>
        </p:grpSpPr>
        <p:sp>
          <p:nvSpPr>
            <p:cNvPr id="262" name="Freeform 17">
              <a:extLst>
                <a:ext uri="{FF2B5EF4-FFF2-40B4-BE49-F238E27FC236}">
                  <a16:creationId xmlns:a16="http://schemas.microsoft.com/office/drawing/2014/main" id="{D963FBC5-E6AD-44F8-AF49-6F5B5BF9DB3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EF1F68DE-2C0A-4FBF-8033-8DFBB75AE20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1C147FEA-3E5D-4830-B91C-78418FE209F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C91F075D-8726-4FD6-BE73-EDCD7607303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0BDE3685-352D-4E32-9662-2C6C92E20FA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10A2922F-AA86-4B02-80C4-409D71A0AD7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A23C72B0-E133-40CF-A094-E239AD994B2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63F2DFC9-23E2-4429-911D-AA55B034054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E71590EC-7AA6-47B3-AFF5-6E9A1B8B1C7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23C6AC81-5D5E-4224-B222-B731E90F1C7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164FB43F-3082-49BF-A7C5-72A42773D43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C9F3EE03-5655-4428-86AC-F579E8F339B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EF7335E6-5FFD-4206-9AF0-1791A88C9A0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CE837EB7-EE63-4B6B-9334-1B8055AD9F3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4EE8D5FB-B44C-43C8-A4F4-D786090733F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8847AA0E-6A2D-41F5-A9B5-3A2F3B87528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9E4D651B-C768-4CBE-B971-A3CA38D803F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913496D3-4182-4D80-9A16-89DBB740861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088D4C91-F0F7-4549-B54A-CC855FD3A78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84885948-783E-4197-B942-2DDCD542EA6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2837E330-008B-45A6-98A5-CE7D6FBBE10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DD807602-B947-4984-8017-D89F3B0ADBA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57AA37C4-9C24-41F1-98CA-BBD9BE15956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692CF8CD-056F-4556-939F-1EFF0FECEC1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A29F3FAC-18B2-4886-9A93-44B7AD01DF6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35B536E5-4149-49B5-8119-04FF4A5ACF3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287">
                <a:extLst>
                  <a:ext uri="{FF2B5EF4-FFF2-40B4-BE49-F238E27FC236}">
                    <a16:creationId xmlns:a16="http://schemas.microsoft.com/office/drawing/2014/main" id="{4A2B8B6A-D5D3-4DAA-AB4B-A1C1086B408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F8E4C672-BE9E-4026-992B-B2FE6C13618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AC36DA4E-F1E7-4B68-ADA1-4F132BDCF23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EB5D2532-6A77-4DE1-8BB0-37AA33FD9F2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BF234A36-BE57-450D-BDA2-AD70152CF5C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D461473E-1290-4BD0-B4DF-3C95DCE0F61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50325318-A62D-4427-B613-AF5E076E3D3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3F928DB9-6B46-43EF-A7CF-C4B9830CA51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BA011901-65F6-4D44-BD40-744878B6B2D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E838496B-B788-4873-9E1C-9B4442984E6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A15262F7-23A5-4A6B-BD2C-44CF82ECDEE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B5857A42-75EB-4FF2-AF41-2D612A687D3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3FC449E1-9573-406B-A201-3E897E668A4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71001847-954F-46EC-97E7-E38732517B9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F3B040FD-D427-4F90-8CFC-D4295224879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975C627A-78ED-4D2B-9F9E-26BE2C0A750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2523831A-B9F1-40EF-B113-873BEFA6609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07483313-610C-403C-811D-EE70A78046D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E1CE5A29-BB15-441C-B3CD-3D3EE2163DA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E476D005-3155-4DEF-88DE-068B497DED9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2628975E-6165-407B-8A45-7F23746BCC6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6A69F000-3171-47D5-8EFE-4F201716C07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60092325-1C07-4FBC-9C9C-42244C9B9DC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2A33CB00-75FF-4DFF-9D6A-CEF5EA2E260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139B85FF-580E-435C-8523-23A0352695B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C53E7419-AF0F-4B69-88BF-853EDC328C5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052C8AEF-9C9D-4737-BA0F-DBB3BF0C04C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6ADDDBC2-F0DB-4038-98D0-B38749D8C0E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E5F14C72-98E5-4A6C-BA03-5E105AA4D4C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9ACEF013-464E-44D2-9B83-863E69077E1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3141F09F-05CE-4CE9-9F5A-861FBC31A83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7ED70A3C-4B21-4941-9F11-00A51A748A0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Straight Connector 319">
                <a:extLst>
                  <a:ext uri="{FF2B5EF4-FFF2-40B4-BE49-F238E27FC236}">
                    <a16:creationId xmlns:a16="http://schemas.microsoft.com/office/drawing/2014/main" id="{11927814-33EF-4FBA-95F7-4138C1C7CEC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Straight Connector 320">
                <a:extLst>
                  <a:ext uri="{FF2B5EF4-FFF2-40B4-BE49-F238E27FC236}">
                    <a16:creationId xmlns:a16="http://schemas.microsoft.com/office/drawing/2014/main" id="{F4D2B900-3BAC-4EE3-AB6E-9F3212F4DCA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FB00017B-AD65-4759-8A6A-B03C70E07BA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22C4A8E2-640F-4D30-99EC-A2D2B0FD6E5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9492085E-DF05-4380-B8C2-93832478CFE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49750F82-33DB-42EE-B31F-CC5DE7EBA14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60B9848F-8B4C-4440-9BF6-98A4F3F72C0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E7AA0900-78F5-4163-807F-3DEE6DCBB10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0F627689-9632-474B-B3A8-EC1A82A36E6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71C6CB03-F81D-48A2-BF05-98D4EF2CC20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12FB4D2F-4789-48A1-A4AA-F318ED2BA5B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64B8907A-2A80-490C-AACF-678CA6DE19D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A175CCF3-4796-4C76-A92E-B495335FB45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8CFC6D15-64F3-449C-8C0B-3FCB2976D26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008AA4A6-DD28-4235-AAE3-CC28DF83430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3D393E8B-AAB8-4606-A4FA-815EDABDD12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8BA7B770-7EB6-4AC1-B028-9C45DEE440E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D87B822C-3951-4E65-A45D-7160FAC3FD0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54B9CDF0-DC54-4868-B60A-6840FDE6A29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3706BEC8-029B-4E0F-A55F-A552E1DE26C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25EBA5EB-4807-4E96-BA08-B6B74AE0405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5548885E-CABE-42B5-B06A-1E6B9B19811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684" y="1918005"/>
            <a:ext cx="7464069" cy="364913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Manual tracking leads to costly errors, </a:t>
            </a:r>
            <a:r>
              <a:rPr lang="en-US" sz="2400" dirty="0" err="1"/>
              <a:t>stockouts</a:t>
            </a:r>
            <a:r>
              <a:rPr lang="en-US" sz="2400" dirty="0"/>
              <a:t>, and overstocking. </a:t>
            </a:r>
            <a:r>
              <a:rPr lang="en-US" sz="2400" dirty="0" smtClean="0"/>
              <a:t>Delayed </a:t>
            </a:r>
            <a:r>
              <a:rPr lang="en-US" sz="2400" dirty="0"/>
              <a:t>restocking results in lost sales and poor supplier perception. </a:t>
            </a:r>
            <a:r>
              <a:rPr lang="en-US" sz="2400" dirty="0" smtClean="0"/>
              <a:t>Lack </a:t>
            </a:r>
            <a:r>
              <a:rPr lang="en-US" sz="2400" dirty="0"/>
              <a:t>of governance and audit trail creates security risks. </a:t>
            </a:r>
            <a:r>
              <a:rPr lang="en-US" sz="2400" dirty="0" smtClean="0"/>
              <a:t> 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sz="2400" b="1" dirty="0" smtClean="0"/>
              <a:t>Solution</a:t>
            </a:r>
            <a:r>
              <a:rPr lang="en-US" sz="2400" b="1" dirty="0"/>
              <a:t>:</a:t>
            </a:r>
            <a:r>
              <a:rPr lang="en-US" sz="2400" dirty="0"/>
              <a:t> Automated tracking and intelligence for optimized reorder decisions</a:t>
            </a:r>
            <a:r>
              <a:rPr lang="en-US" dirty="0"/>
              <a:t>.</a:t>
            </a:r>
          </a:p>
        </p:txBody>
      </p:sp>
      <p:pic>
        <p:nvPicPr>
          <p:cNvPr id="1026" name="Picture 2" descr="380+ Cartoon Of The Man Holding Head Stock Illustrations, Royalty-Free  Vector Graphics &amp; Clip Art - iSto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3729" y="2325621"/>
            <a:ext cx="2143125" cy="214312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8249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" y="0"/>
            <a:ext cx="10131425" cy="1456267"/>
          </a:xfrm>
        </p:spPr>
        <p:txBody>
          <a:bodyPr/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1" y="1207347"/>
            <a:ext cx="10131425" cy="364913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Maintain </a:t>
            </a:r>
            <a:r>
              <a:rPr lang="en-US" sz="2800" b="1" dirty="0"/>
              <a:t>accurate real-time</a:t>
            </a:r>
            <a:r>
              <a:rPr lang="en-US" sz="2800" dirty="0"/>
              <a:t> stock levels.</a:t>
            </a:r>
          </a:p>
          <a:p>
            <a:r>
              <a:rPr lang="en-US" sz="2800" dirty="0"/>
              <a:t>Auto-generate </a:t>
            </a:r>
            <a:r>
              <a:rPr lang="en-US" sz="2800" b="1" dirty="0"/>
              <a:t>optimized reorder requests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 </a:t>
            </a:r>
            <a:r>
              <a:rPr lang="en-US" sz="2800" dirty="0"/>
              <a:t>Enforce critical </a:t>
            </a:r>
            <a:r>
              <a:rPr lang="en-US" sz="2800" b="1" dirty="0"/>
              <a:t>business rules</a:t>
            </a:r>
            <a:r>
              <a:rPr lang="en-US" sz="2800" dirty="0"/>
              <a:t> (weekday/holiday restriction). </a:t>
            </a:r>
            <a:endParaRPr lang="en-US" sz="2800" dirty="0" smtClean="0"/>
          </a:p>
          <a:p>
            <a:r>
              <a:rPr lang="en-US" sz="2800" dirty="0" smtClean="0"/>
              <a:t>Provide </a:t>
            </a:r>
            <a:r>
              <a:rPr lang="en-US" sz="2800" b="1" dirty="0"/>
              <a:t>Business Intelligence</a:t>
            </a:r>
            <a:r>
              <a:rPr lang="en-US" sz="2800" dirty="0"/>
              <a:t> (BI) for decision support. </a:t>
            </a:r>
            <a:endParaRPr lang="en-US" sz="2800" dirty="0" smtClean="0"/>
          </a:p>
          <a:p>
            <a:r>
              <a:rPr lang="en-US" sz="2800" b="1" dirty="0" smtClean="0"/>
              <a:t>Scope</a:t>
            </a:r>
            <a:r>
              <a:rPr lang="en-US" sz="2800" b="1" dirty="0"/>
              <a:t>:</a:t>
            </a:r>
            <a:r>
              <a:rPr lang="en-US" sz="2800" dirty="0"/>
              <a:t> Procurement, Sales Logging, Stock Control, and Auditing.</a:t>
            </a:r>
          </a:p>
        </p:txBody>
      </p:sp>
    </p:spTree>
    <p:extLst>
      <p:ext uri="{BB962C8B-B14F-4D97-AF65-F5344CB8AC3E}">
        <p14:creationId xmlns:p14="http://schemas.microsoft.com/office/powerpoint/2010/main" val="358471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61" y="172720"/>
            <a:ext cx="10131425" cy="1456267"/>
          </a:xfrm>
        </p:spPr>
        <p:txBody>
          <a:bodyPr/>
          <a:lstStyle/>
          <a:p>
            <a:r>
              <a:rPr lang="en-US" b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Database Design (Phase III)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205" y="1439615"/>
            <a:ext cx="100441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is normalized to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Third Normal Form (3NF)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data integrity.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Dimension Tables: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SUPPLIERS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EMPLOYEES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Fact Tables: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INVENTORY_LOG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(for all stock movements),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AUDIT_LOG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(for governance).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 Support: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HOLIDAYS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table drives the security restriction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104" y="2783792"/>
            <a:ext cx="6561137" cy="395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007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8652B-B439-4AB5-8773-417F1E05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5" y="81280"/>
            <a:ext cx="8554473" cy="1456267"/>
          </a:xfrm>
        </p:spPr>
        <p:txBody>
          <a:bodyPr/>
          <a:lstStyle/>
          <a:p>
            <a:r>
              <a:rPr lang="en-US" b="1" u="sng" dirty="0"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 Process Flow (Phase II)</a:t>
            </a:r>
            <a:endParaRPr lang="en-US" b="1" u="sng" dirty="0">
              <a:solidFill>
                <a:schemeClr val="accent3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55684" y="1918005"/>
            <a:ext cx="7464069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0" y="1412136"/>
            <a:ext cx="9611927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business process flow is demonstrated by this BPMN diagram: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065" y="1827634"/>
            <a:ext cx="8648936" cy="485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90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04800"/>
            <a:ext cx="10131425" cy="1456267"/>
          </a:xfrm>
        </p:spPr>
        <p:txBody>
          <a:bodyPr/>
          <a:lstStyle/>
          <a:p>
            <a:r>
              <a:rPr lang="en-US" b="1" u="sng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Core PL/SQL Development (Phase VI)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870100"/>
            <a:ext cx="1033712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Functionality grouped into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PKG_INVENTORY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Package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10_pkg_inventory_spec.sql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/>
              <a:t> </a:t>
            </a:r>
            <a:r>
              <a:rPr lang="en-US" altLang="en-US" sz="2000" dirty="0" smtClean="0"/>
              <a:t>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11_pkg_inventory_body.sql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Function: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F_REORDER_CHECK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(or similar) determines if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stock_quantity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is below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/>
              <a:t> </a:t>
            </a:r>
            <a:r>
              <a:rPr lang="en-US" altLang="en-US" sz="2000" dirty="0" smtClean="0"/>
              <a:t>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reorder_level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Utilizes Explicit Cursors for efficient multi-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rowprocessing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custom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</a:rPr>
              <a:t>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exception handling.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920" y="3169921"/>
            <a:ext cx="7498080" cy="368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47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3" y="0"/>
            <a:ext cx="10131425" cy="1456267"/>
          </a:xfrm>
        </p:spPr>
        <p:txBody>
          <a:bodyPr/>
          <a:lstStyle/>
          <a:p>
            <a:r>
              <a:rPr lang="en-US" b="1" u="sng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RESTRICTIONS &amp; </a:t>
            </a:r>
            <a:r>
              <a:rPr lang="en-US" b="1" u="sng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Auditing (Phase VII)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1243030"/>
            <a:ext cx="1130315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Rule enforced via a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DML operations. *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Employees CANNOT INSERT/UPDATE/DELETE on WEEKDAYS or PUBLIC HOLIDAYS.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Proof: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trigger calls a restriction function and logs the attempt in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AUDIT_LOG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with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STATUS='DENIED'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This fulfills the security and auditing requirement.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765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night sky with mountains on the horizon">
            <a:extLst>
              <a:ext uri="{FF2B5EF4-FFF2-40B4-BE49-F238E27FC236}">
                <a16:creationId xmlns:a16="http://schemas.microsoft.com/office/drawing/2014/main" id="{2739CFE1-3E46-48B5-9BDB-769492BA7A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t="4555" b="4555"/>
          <a:stretch/>
        </p:blipFill>
        <p:spPr>
          <a:xfrm>
            <a:off x="-600" y="-1226"/>
            <a:ext cx="12193200" cy="6860452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090347" y="706999"/>
                </a:moveTo>
                <a:cubicBezTo>
                  <a:pt x="4588386" y="706999"/>
                  <a:pt x="3370806" y="1924579"/>
                  <a:pt x="3370806" y="3426541"/>
                </a:cubicBezTo>
                <a:cubicBezTo>
                  <a:pt x="3370806" y="4928503"/>
                  <a:pt x="4588386" y="6146083"/>
                  <a:pt x="6090347" y="6146083"/>
                </a:cubicBezTo>
                <a:cubicBezTo>
                  <a:pt x="7592308" y="6146083"/>
                  <a:pt x="8809888" y="4928503"/>
                  <a:pt x="8809888" y="3426541"/>
                </a:cubicBezTo>
                <a:cubicBezTo>
                  <a:pt x="8809888" y="1924579"/>
                  <a:pt x="7592308" y="706999"/>
                  <a:pt x="6090347" y="706999"/>
                </a:cubicBezTo>
                <a:close/>
                <a:moveTo>
                  <a:pt x="6082303" y="247854"/>
                </a:moveTo>
                <a:cubicBezTo>
                  <a:pt x="7836802" y="247854"/>
                  <a:pt x="9259104" y="1671227"/>
                  <a:pt x="9259104" y="3427045"/>
                </a:cubicBezTo>
                <a:cubicBezTo>
                  <a:pt x="9259104" y="5182864"/>
                  <a:pt x="7836802" y="6606237"/>
                  <a:pt x="6082303" y="6606237"/>
                </a:cubicBezTo>
                <a:cubicBezTo>
                  <a:pt x="4327804" y="6606237"/>
                  <a:pt x="2905502" y="5182864"/>
                  <a:pt x="2905502" y="3427045"/>
                </a:cubicBezTo>
                <a:cubicBezTo>
                  <a:pt x="2905502" y="1671227"/>
                  <a:pt x="4327804" y="247854"/>
                  <a:pt x="6082303" y="247854"/>
                </a:cubicBezTo>
                <a:close/>
                <a:moveTo>
                  <a:pt x="956025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60255" y="6858000"/>
                </a:lnTo>
                <a:lnTo>
                  <a:pt x="9704262" y="6706843"/>
                </a:lnTo>
                <a:cubicBezTo>
                  <a:pt x="10490530" y="5841105"/>
                  <a:pt x="10969748" y="4691058"/>
                  <a:pt x="10969748" y="3428999"/>
                </a:cubicBezTo>
                <a:cubicBezTo>
                  <a:pt x="10969748" y="2166941"/>
                  <a:pt x="10490530" y="1016894"/>
                  <a:pt x="9704262" y="151155"/>
                </a:cubicBezTo>
                <a:close/>
                <a:moveTo>
                  <a:pt x="7947654" y="0"/>
                </a:moveTo>
                <a:lnTo>
                  <a:pt x="8099035" y="0"/>
                </a:lnTo>
                <a:lnTo>
                  <a:pt x="8158569" y="34257"/>
                </a:lnTo>
                <a:cubicBezTo>
                  <a:pt x="9305381" y="731601"/>
                  <a:pt x="10071441" y="1993601"/>
                  <a:pt x="10071441" y="3434659"/>
                </a:cubicBezTo>
                <a:cubicBezTo>
                  <a:pt x="10071441" y="4875717"/>
                  <a:pt x="9305381" y="6137716"/>
                  <a:pt x="8158569" y="6835060"/>
                </a:cubicBezTo>
                <a:lnTo>
                  <a:pt x="8118703" y="6858000"/>
                </a:lnTo>
                <a:lnTo>
                  <a:pt x="7923440" y="6858000"/>
                </a:lnTo>
                <a:lnTo>
                  <a:pt x="7938929" y="6850061"/>
                </a:lnTo>
                <a:cubicBezTo>
                  <a:pt x="9153123" y="6189975"/>
                  <a:pt x="9977382" y="4902579"/>
                  <a:pt x="9977382" y="3422520"/>
                </a:cubicBezTo>
                <a:cubicBezTo>
                  <a:pt x="9977382" y="2009739"/>
                  <a:pt x="9226353" y="772500"/>
                  <a:pt x="8102044" y="88839"/>
                </a:cubicBezTo>
                <a:close/>
                <a:moveTo>
                  <a:pt x="4097777" y="0"/>
                </a:moveTo>
                <a:lnTo>
                  <a:pt x="4216953" y="0"/>
                </a:lnTo>
                <a:lnTo>
                  <a:pt x="4062563" y="88839"/>
                </a:lnTo>
                <a:cubicBezTo>
                  <a:pt x="2938253" y="772500"/>
                  <a:pt x="2187224" y="2009739"/>
                  <a:pt x="2187224" y="3422520"/>
                </a:cubicBezTo>
                <a:cubicBezTo>
                  <a:pt x="2187224" y="4902579"/>
                  <a:pt x="3011483" y="6189975"/>
                  <a:pt x="4225677" y="6850061"/>
                </a:cubicBezTo>
                <a:lnTo>
                  <a:pt x="4241167" y="6858000"/>
                </a:lnTo>
                <a:lnTo>
                  <a:pt x="4078110" y="6858000"/>
                </a:lnTo>
                <a:lnTo>
                  <a:pt x="4038243" y="6835060"/>
                </a:lnTo>
                <a:cubicBezTo>
                  <a:pt x="2891431" y="6137716"/>
                  <a:pt x="2125371" y="4875717"/>
                  <a:pt x="2125371" y="3434659"/>
                </a:cubicBezTo>
                <a:cubicBezTo>
                  <a:pt x="2125371" y="1993601"/>
                  <a:pt x="2891431" y="731601"/>
                  <a:pt x="4038243" y="34257"/>
                </a:cubicBezTo>
                <a:close/>
                <a:moveTo>
                  <a:pt x="0" y="0"/>
                </a:moveTo>
                <a:lnTo>
                  <a:pt x="2636555" y="0"/>
                </a:lnTo>
                <a:lnTo>
                  <a:pt x="2492551" y="151155"/>
                </a:lnTo>
                <a:cubicBezTo>
                  <a:pt x="1706282" y="1016894"/>
                  <a:pt x="1227064" y="2166941"/>
                  <a:pt x="1227064" y="3428999"/>
                </a:cubicBezTo>
                <a:cubicBezTo>
                  <a:pt x="1227064" y="4691058"/>
                  <a:pt x="1706282" y="5841105"/>
                  <a:pt x="2492551" y="6706843"/>
                </a:cubicBezTo>
                <a:lnTo>
                  <a:pt x="2636557" y="6858000"/>
                </a:lnTo>
                <a:lnTo>
                  <a:pt x="0" y="6858000"/>
                </a:lnTo>
                <a:close/>
              </a:path>
            </a:pathLst>
          </a:custGeom>
          <a:ln w="60325" cmpd="dbl">
            <a:solidFill>
              <a:schemeClr val="tx1">
                <a:alpha val="40000"/>
              </a:schemeClr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4E241E-3110-4B1C-B9B0-F17B90FEE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8903" y="787400"/>
            <a:ext cx="7390680" cy="12784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Network Technology</a:t>
            </a:r>
          </a:p>
        </p:txBody>
      </p:sp>
      <p:sp>
        <p:nvSpPr>
          <p:cNvPr id="6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1493734" y="1618698"/>
            <a:ext cx="935714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KPIs Defined: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Inventory Turnover,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Stockout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Rate, Supplier Performance, Audit Violations.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Dashboards: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Executive Summary, Audit Monitoring, and Performance Dashboard (Show Mockups).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12_analytics_examples.sql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uses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Window Functions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LAG()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to analyze sales trends and ranking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74828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3" y="0"/>
            <a:ext cx="10131425" cy="1456267"/>
          </a:xfrm>
        </p:spPr>
        <p:txBody>
          <a:bodyPr/>
          <a:lstStyle/>
          <a:p>
            <a:r>
              <a:rPr lang="en-US" b="1" u="sng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TESTING &amp; VERIFICATION</a:t>
            </a:r>
            <a:endParaRPr lang="en-US" b="1" u="sng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0" y="1315988"/>
            <a:ext cx="1157224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scripts tested and error-free 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03_test_queries.sql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Validation: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 100 rows inserted into main tables for realistic testing.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 Test Result: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a successful log entry in the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AUDIT_LOG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where a DML action was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DENIED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due to the holiday rule.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Proof of Concept: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Display table data (5-10 rows). </a:t>
            </a:r>
          </a:p>
        </p:txBody>
      </p:sp>
    </p:spTree>
    <p:extLst>
      <p:ext uri="{BB962C8B-B14F-4D97-AF65-F5344CB8AC3E}">
        <p14:creationId xmlns:p14="http://schemas.microsoft.com/office/powerpoint/2010/main" val="1917097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ght spots">
            <a:extLst>
              <a:ext uri="{FF2B5EF4-FFF2-40B4-BE49-F238E27FC236}">
                <a16:creationId xmlns:a16="http://schemas.microsoft.com/office/drawing/2014/main" id="{20A520D0-11CF-4639-8537-F56A8A2FDC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4BCB7C-A6FC-4118-9027-468ECFDE6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2573867"/>
            <a:ext cx="7197726" cy="2421464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121920" y="1861734"/>
            <a:ext cx="1240536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all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/>
              <a:t>Achievements:</a:t>
            </a:r>
            <a:r>
              <a:rPr lang="en-US" dirty="0"/>
              <a:t> System is functional, automated, and compliant with all project phases. </a:t>
            </a:r>
            <a:endParaRPr lang="en-US" dirty="0" smtClean="0"/>
          </a:p>
          <a:p>
            <a:pPr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 smtClean="0"/>
              <a:t>Future </a:t>
            </a:r>
            <a:r>
              <a:rPr lang="en-US" b="1" dirty="0"/>
              <a:t>Work:</a:t>
            </a:r>
            <a:r>
              <a:rPr lang="en-US" dirty="0"/>
              <a:t> Integration with a front-end system or adding a forecasting model. </a:t>
            </a:r>
            <a:endParaRPr lang="en-US" dirty="0" smtClean="0"/>
          </a:p>
          <a:p>
            <a:pPr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 smtClean="0"/>
              <a:t>Final </a:t>
            </a:r>
            <a:r>
              <a:rPr lang="en-US" b="1" dirty="0"/>
              <a:t>Thought:</a:t>
            </a:r>
            <a:r>
              <a:rPr lang="en-US" dirty="0"/>
              <a:t> This project demonstrates mastery of Oracle DDL, DML, PL/SQL, Triggers, and BI principles.</a:t>
            </a:r>
            <a:endParaRPr lang="en-US" altLang="en-US" cap="none" dirty="0" smtClean="0">
              <a:latin typeface="Arial" panose="020B060402020202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99933" y="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b="1" u="sng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  <a:endParaRPr lang="en-US" b="1" u="sng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39930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5B3C4-7FB6-414C-8C24-8862C0E6C9F3}">
  <ds:schemaRefs>
    <ds:schemaRef ds:uri="http://purl.org/dc/terms/"/>
    <ds:schemaRef ds:uri="http://www.w3.org/XML/1998/namespace"/>
    <ds:schemaRef ds:uri="http://purl.org/dc/elements/1.1/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71af3243-3dd4-4a8d-8c0d-dd76da1f02a5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E12C2FA-3740-4055-BA8A-74A1458F4A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57C101-46E1-4CAE-AE60-1AB79022B7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design</Template>
  <TotalTime>0</TotalTime>
  <Words>469</Words>
  <Application>Microsoft Office PowerPoint</Application>
  <PresentationFormat>Widescreen</PresentationFormat>
  <Paragraphs>56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Celestial</vt:lpstr>
      <vt:lpstr>Database development with pl/sql final project</vt:lpstr>
      <vt:lpstr>Problem Statement</vt:lpstr>
      <vt:lpstr>Project Objectives &amp; Scope</vt:lpstr>
      <vt:lpstr>Logical Database Design (Phase III)</vt:lpstr>
      <vt:lpstr>Business Process Flow (Phase II)</vt:lpstr>
      <vt:lpstr>Core PL/SQL Development (Phase VI)</vt:lpstr>
      <vt:lpstr>RESTRICTIONS &amp; Auditing (Phase VII)</vt:lpstr>
      <vt:lpstr>Network Technology</vt:lpstr>
      <vt:lpstr>TESTING &amp; VERIFICATION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2025-12-06T18:49:36Z</dcterms:created>
  <dcterms:modified xsi:type="dcterms:W3CDTF">2025-12-06T20:38:34Z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